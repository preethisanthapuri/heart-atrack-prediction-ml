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0f7e28690c4efe" /><Relationship Type="http://schemas.openxmlformats.org/officeDocument/2006/relationships/extended-properties" Target="/docProps/app.xml" Id="R50b1f89723374ab8" /><Relationship Type="http://schemas.openxmlformats.org/officeDocument/2006/relationships/officeDocument" Target="/ppt/presentation.xml" Id="R477038f513c84c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babde66b014d5f"/>
  </p:sldMasterIdLst>
  <p:notesMasterIdLst>
    <p:notesMasterId xmlns:r="http://schemas.openxmlformats.org/officeDocument/2006/relationships" r:id="Rdab7b191c46647b7"/>
  </p:notesMasterIdLst>
  <p:sldIdLst>
    <p:sldId xmlns:r="http://schemas.openxmlformats.org/officeDocument/2006/relationships" id="256" r:id="R163a3834df004ab4"/>
    <p:sldId xmlns:r="http://schemas.openxmlformats.org/officeDocument/2006/relationships" id="257" r:id="Rc8d3235fda67406c"/>
    <p:sldId xmlns:r="http://schemas.openxmlformats.org/officeDocument/2006/relationships" id="258" r:id="R9f22b171afbd4e8f"/>
    <p:sldId xmlns:r="http://schemas.openxmlformats.org/officeDocument/2006/relationships" id="259" r:id="Rab67695e19e54e57"/>
    <p:sldId xmlns:r="http://schemas.openxmlformats.org/officeDocument/2006/relationships" id="260" r:id="Rded17ec382da4115"/>
    <p:sldId xmlns:r="http://schemas.openxmlformats.org/officeDocument/2006/relationships" id="261" r:id="R3a03bdebf31f4694"/>
    <p:sldId xmlns:r="http://schemas.openxmlformats.org/officeDocument/2006/relationships" id="262" r:id="R42e1cc7287124d32"/>
    <p:sldId xmlns:r="http://schemas.openxmlformats.org/officeDocument/2006/relationships" id="263" r:id="Rbfd6d4808df74a87"/>
    <p:sldId xmlns:r="http://schemas.openxmlformats.org/officeDocument/2006/relationships" id="264" r:id="R8d9e571abbf34c5d"/>
    <p:sldId xmlns:r="http://schemas.openxmlformats.org/officeDocument/2006/relationships" id="265" r:id="R0bb1b5e617874b22"/>
    <p:sldId xmlns:r="http://schemas.openxmlformats.org/officeDocument/2006/relationships" id="266" r:id="R202423c385904f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c8feb8771c49e7" /><Relationship Type="http://schemas.openxmlformats.org/officeDocument/2006/relationships/slideMaster" Target="/ppt/slideMasters/slideMaster1.xml" Id="Re0babde66b014d5f" /><Relationship Type="http://schemas.openxmlformats.org/officeDocument/2006/relationships/notesMaster" Target="/ppt/notesMasters/notesMaster1.xml" Id="Rdab7b191c46647b7" /><Relationship Type="http://schemas.openxmlformats.org/officeDocument/2006/relationships/presProps" Target="/ppt/presProps.xml" Id="Rc7c8aa1024f548f8" /><Relationship Type="http://schemas.openxmlformats.org/officeDocument/2006/relationships/tableStyles" Target="/ppt/tableStyles.xml" Id="R7760415a5aa348a9" /><Relationship Type="http://schemas.openxmlformats.org/officeDocument/2006/relationships/slide" Target="/ppt/slides/slide1.xml" Id="R163a3834df004ab4" /><Relationship Type="http://schemas.openxmlformats.org/officeDocument/2006/relationships/slide" Target="/ppt/slides/slide2.xml" Id="Rc8d3235fda67406c" /><Relationship Type="http://schemas.openxmlformats.org/officeDocument/2006/relationships/slide" Target="/ppt/slides/slide3.xml" Id="R9f22b171afbd4e8f" /><Relationship Type="http://schemas.openxmlformats.org/officeDocument/2006/relationships/slide" Target="/ppt/slides/slide4.xml" Id="Rab67695e19e54e57" /><Relationship Type="http://schemas.openxmlformats.org/officeDocument/2006/relationships/slide" Target="/ppt/slides/slide5.xml" Id="Rded17ec382da4115" /><Relationship Type="http://schemas.openxmlformats.org/officeDocument/2006/relationships/slide" Target="/ppt/slides/slide6.xml" Id="R3a03bdebf31f4694" /><Relationship Type="http://schemas.openxmlformats.org/officeDocument/2006/relationships/slide" Target="/ppt/slides/slide7.xml" Id="R42e1cc7287124d32" /><Relationship Type="http://schemas.openxmlformats.org/officeDocument/2006/relationships/slide" Target="/ppt/slides/slide8.xml" Id="Rbfd6d4808df74a87" /><Relationship Type="http://schemas.openxmlformats.org/officeDocument/2006/relationships/slide" Target="/ppt/slides/slide9.xml" Id="R8d9e571abbf34c5d" /><Relationship Type="http://schemas.openxmlformats.org/officeDocument/2006/relationships/slide" Target="/ppt/slides/slide10.xml" Id="R0bb1b5e617874b22" /><Relationship Type="http://schemas.openxmlformats.org/officeDocument/2006/relationships/slide" Target="/ppt/slides/slide11.xml" Id="R202423c385904f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62ab35d7a84a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ff33c1e24e4569" /><Relationship Type="http://schemas.openxmlformats.org/officeDocument/2006/relationships/notesMaster" Target="/ppt/notesMasters/notesMaster1.xml" Id="Rb47632b4489841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be11ded1bd4a12" /><Relationship Type="http://schemas.openxmlformats.org/officeDocument/2006/relationships/notesMaster" Target="/ppt/notesMasters/notesMaster1.xml" Id="Rcf46f96aa80d48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d2b83fccef4275" /><Relationship Type="http://schemas.openxmlformats.org/officeDocument/2006/relationships/notesMaster" Target="/ppt/notesMasters/notesMaster1.xml" Id="Ra6b1bab0220341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71aaa311f541e4" /><Relationship Type="http://schemas.openxmlformats.org/officeDocument/2006/relationships/notesMaster" Target="/ppt/notesMasters/notesMaster1.xml" Id="R00fd682a1c764e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057121003c4985" /><Relationship Type="http://schemas.openxmlformats.org/officeDocument/2006/relationships/notesMaster" Target="/ppt/notesMasters/notesMaster1.xml" Id="Rb6b648bcff6445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6a518aeef44dab" /><Relationship Type="http://schemas.openxmlformats.org/officeDocument/2006/relationships/notesMaster" Target="/ppt/notesMasters/notesMaster1.xml" Id="Rd0d113685e4841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3f007ee95e4370" /><Relationship Type="http://schemas.openxmlformats.org/officeDocument/2006/relationships/notesMaster" Target="/ppt/notesMasters/notesMaster1.xml" Id="Rf3a5f555203748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2bda02333d488e" /><Relationship Type="http://schemas.openxmlformats.org/officeDocument/2006/relationships/notesMaster" Target="/ppt/notesMasters/notesMaster1.xml" Id="R482e48156b0641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941e6a58134d24" /><Relationship Type="http://schemas.openxmlformats.org/officeDocument/2006/relationships/notesMaster" Target="/ppt/notesMasters/notesMaster1.xml" Id="R1f7fcddbefc94d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dd14cbf41549b7" /><Relationship Type="http://schemas.openxmlformats.org/officeDocument/2006/relationships/notesMaster" Target="/ppt/notesMasters/notesMaster1.xml" Id="R971c007f2aa74e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8125ceef9946a3" /><Relationship Type="http://schemas.openxmlformats.org/officeDocument/2006/relationships/notesMaster" Target="/ppt/notesMasters/notesMaster1.xml" Id="R7060542d9b5640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from the project manuscript and saved experiment evidence. The requested repository/project title is preserved. The dataset target meaning is unresolved, so the title is not evidence that this work predicts heart attacks.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paper/ieee_paper.md, Sections I and III; paper/research_gap.md.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paper/ieee_paper.md, Section IV-A; results/tables/dataset_audit.md; results/tables/cleaning_report.md.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paper/ieee_paper.md, Sections IV-B through V;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results/tables/cross_validation.csv; paper/ieee_paper.md, Table 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results/tables/final_ablation_summary.csv; paper/ieee_paper.md, Table II. Pooled training OOF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paper/final_model_selection.md; results/tables/ablation.csv; paper/ieee_paper.md, Table 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paper/ieee_paper.md, Sections IV-E through G and VI-D through 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paper/publication_readiness.md; IEEE Author Center; TRIPOD+AI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paper/ieee_paper.md, Sections VIII-X; paper/publication_readiness.md.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Q&amp;A. Remind the audience that class labels and source are not verified. Do not interpret model explanations causally or transfer calibration, uncertainty, and external results across different model variants.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145f74259944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c8aee7053146b9" /><Relationship Type="http://schemas.openxmlformats.org/officeDocument/2006/relationships/slideLayout" Target="/ppt/slideLayouts/slideLayout1.xml" Id="R6c44f8444afe47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44f8444afe47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4a8f0f45b4279" /><Relationship Type="http://schemas.openxmlformats.org/officeDocument/2006/relationships/notesSlide" Target="/ppt/notesSlides/notesSlide1.xml" Id="Ra24e1ca9418a42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68ae9bb454efc" /><Relationship Type="http://schemas.openxmlformats.org/officeDocument/2006/relationships/notesSlide" Target="/ppt/notesSlides/notesSlide2.xml" Id="R2d5c1b364f874a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3281e839149fc" /><Relationship Type="http://schemas.openxmlformats.org/officeDocument/2006/relationships/notesSlide" Target="/ppt/notesSlides/notesSlide3.xml" Id="Rba177b5942ac42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5f667a6814d3e" /><Relationship Type="http://schemas.openxmlformats.org/officeDocument/2006/relationships/notesSlide" Target="/ppt/notesSlides/notesSlide4.xml" Id="Rcdeb624009a44e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ed524229748b0" /><Relationship Type="http://schemas.openxmlformats.org/officeDocument/2006/relationships/notesSlide" Target="/ppt/notesSlides/notesSlide5.xml" Id="R01c44f1f165f4a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172aef6654045" /><Relationship Type="http://schemas.openxmlformats.org/officeDocument/2006/relationships/chart" Target="/ppt/slides/charts/chart1.xml" Id="R9bee6383793c45ac" /><Relationship Type="http://schemas.openxmlformats.org/officeDocument/2006/relationships/notesSlide" Target="/ppt/notesSlides/notesSlide6.xml" Id="R4d12909822f24f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e5c825f964ba5" /><Relationship Type="http://schemas.openxmlformats.org/officeDocument/2006/relationships/notesSlide" Target="/ppt/notesSlides/notesSlide7.xml" Id="R80771af3c4a241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e4aa84f8547ec" /><Relationship Type="http://schemas.openxmlformats.org/officeDocument/2006/relationships/notesSlide" Target="/ppt/notesSlides/notesSlide8.xml" Id="R24bc8410d57549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600b041d344c4" /><Relationship Type="http://schemas.openxmlformats.org/officeDocument/2006/relationships/notesSlide" Target="/ppt/notesSlides/notesSlide9.xml" Id="R713438ef2e404d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85cfb19d34308" /><Relationship Type="http://schemas.openxmlformats.org/officeDocument/2006/relationships/notesSlide" Target="/ppt/notesSlides/notesSlide10.xml" Id="R1a4b5ad6cf3348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26662669046c0" /><Relationship Type="http://schemas.openxmlformats.org/officeDocument/2006/relationships/notesSlide" Target="/ppt/notesSlides/notesSlide11.xml" Id="R7f77227136d548d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ROC-AUC</c:v>
          </c:tx>
          <c:spPr>
            <a:solidFill xmlns:a="http://schemas.openxmlformats.org/drawingml/2006/main">
              <a:srgbClr val="137C83"/>
            </a:solidFill>
          </c:spPr>
          <c:cat>
            <c:strRef>
              <c:f>'Chart Data'!$A$2:$A$4</c:f>
              <c:strCache>
                <c:ptCount val="3"/>
                <c:pt idx="0">
                  <c:v>Stage A: all features</c:v>
                </c:pt>
                <c:pt idx="1">
                  <c:v>Stage B: MI + LR</c:v>
                </c:pt>
                <c:pt idx="2">
                  <c:v>Stage F: integrated vote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0.91</c:v>
                </c:pt>
                <c:pt idx="1">
                  <c:v>0.916</c:v>
                </c:pt>
                <c:pt idx="2">
                  <c:v>0.885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4B3DA-AB50-499F-9F72-22FE70E7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95375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Prediction of Heart Attacks Using Machine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1DBE0-CA86-4685-ADFC-8524937B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8DAD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DADD"/>
                </a:solidFill>
                <a:latin typeface="Arial"/>
                <a:ea typeface="Arial"/>
                <a:cs typeface="Arial"/>
              </a:rPr>
              <a:t>Exploratory evaluation of a supplied tabular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7C3FC-FB32-4A82-9477-D50C91AA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 viva presentation  |  Project: heart-atrack-prediction-ml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9B37F-8B50-4DFE-95BF-75AE4D18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DA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DADD"/>
                </a:solidFill>
                <a:latin typeface="Arial"/>
                <a:ea typeface="Arial"/>
                <a:cs typeface="Arial"/>
              </a:rPr>
              <a:t>Authors and affiliations: add verified details before presentation</a:t>
            </a:r>
          </a:p>
        </p:txBody>
      </p:sp>
    </p:spTree>
    <p:extLst>
      <p:ext uri="{BB962C8B-B14F-4D97-AF65-F5344CB8AC3E}">
        <p14:creationId xmlns:p14="http://schemas.microsoft.com/office/powerpoint/2010/main" val="870229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96EA6-501C-4399-9006-1FA5F51C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Research question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59B06-3A94-483C-8D6C-0050A381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575"/>
                </a:solidFill>
                <a:latin typeface="Arial"/>
                <a:ea typeface="Arial"/>
                <a:cs typeface="Arial"/>
              </a:rPr>
              <a:t>HEART-ATRACK PREDICTION ML   /   RESEARCH VIVA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CC48B-8457-46E2-B15E-101AAE53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46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Question: do fold-local feature selection and staged extensions improve internal out-of-fold metrics?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64AED-4B05-4E7A-AE0E-809DD314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Evidence: a reproducible comparison on one supplied, small tabular dataset.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13A6F-4702-49FB-8AD0-AA0D1A6F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Outcome: numeric dataset classes 0 and 1. Their medical meaning is unverified.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18FAD-5BD4-49E8-AB0D-D5696D29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Scope: exploratory benchmark evidence, without clinical or prospective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C6D1E-B179-4B77-8AAC-F82F3785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1033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E3B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E3B3B"/>
                </a:solidFill>
                <a:latin typeface="Arial"/>
                <a:ea typeface="Arial"/>
                <a:cs typeface="Arial"/>
              </a:rPr>
              <a:t>No claim of heart-attack diagnosis or future cardiovascular risk</a:t>
            </a:r>
          </a:p>
        </p:txBody>
      </p:sp>
    </p:spTree>
    <p:extLst>
      <p:ext uri="{BB962C8B-B14F-4D97-AF65-F5344CB8AC3E}">
        <p14:creationId xmlns:p14="http://schemas.microsoft.com/office/powerpoint/2010/main" val="18880954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38F7B-D2B9-4907-B3C5-6B21D5A7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Dataset audit and cleaning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BEE31-A652-478D-8DEE-18D37F73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575"/>
                </a:solidFill>
                <a:latin typeface="Arial"/>
                <a:ea typeface="Arial"/>
                <a:cs typeface="Arial"/>
              </a:rPr>
              <a:t>HEART-ATRACK PREDICTION ML   /   RESEARCH VIVA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C068D-EFAE-441E-AAD9-93754709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303 rows and 14 columns in the supplied 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F8476-1FAB-4B70-B2E6-FBAFE109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One exact duplicate removed; 302 observations retained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51889-341E-4003-8FEC-0A1A00AD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Target candidate: output, with 138 class 0 and 164 class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7643A-ADA0-44C0-9430-4A345B36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13 input variables; no missing or invalid values in the cleaned primary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F6C63-BCE3-492F-A8FA-24C822CA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Source provenance and codebook remain unconfirmed</a:t>
            </a:r>
          </a:p>
        </p:txBody>
      </p:sp>
    </p:spTree>
    <p:extLst>
      <p:ext uri="{BB962C8B-B14F-4D97-AF65-F5344CB8AC3E}">
        <p14:creationId xmlns:p14="http://schemas.microsoft.com/office/powerpoint/2010/main" val="519587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F5066-5068-4EF0-B836-78C9E698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7D85F-B304-4AAE-8211-75F47437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575"/>
                </a:solidFill>
                <a:latin typeface="Arial"/>
                <a:ea typeface="Arial"/>
                <a:cs typeface="Arial"/>
              </a:rPr>
              <a:t>HEART-ATRACK PREDICTION ML   /   RESEARCH VIVA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F4E1C-73BB-4FF2-A0D9-345C859C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Stratified split: 241 development rows and 61 holdout rows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E9D5D-5FED-4ECD-B3A7-488C19CE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Preprocessing was fitted within training folds; one-hot inputs became 30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BFD6F-9809-4E36-BF87-30D40F68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Five-fold stratified CV generated baseline comparisons on development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23F04-5D55-40E9-B92E-5E47A215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Feature selection and tuning were contained within training folds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A3302-E2C1-4CF0-B97C-BB34DDF9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The holdout was screened for accuracy in Phase 5 and is not untouched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1609E-4D8F-485A-A9ED-6792B490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7C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7C83"/>
                </a:solidFill>
                <a:latin typeface="Arial"/>
                <a:ea typeface="Arial"/>
                <a:cs typeface="Arial"/>
              </a:rPr>
              <a:t>Final Stage B selection and fitting used training indices only</a:t>
            </a:r>
          </a:p>
        </p:txBody>
      </p:sp>
    </p:spTree>
    <p:extLst>
      <p:ext uri="{BB962C8B-B14F-4D97-AF65-F5344CB8AC3E}">
        <p14:creationId xmlns:p14="http://schemas.microsoft.com/office/powerpoint/2010/main" val="7328234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8C1DE-66E4-4F6B-A81F-4A266CB3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Baseline 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F4D2D-38E8-425D-A643-A069562F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575"/>
                </a:solidFill>
                <a:latin typeface="Arial"/>
                <a:ea typeface="Arial"/>
                <a:cs typeface="Arial"/>
              </a:rPr>
              <a:t>HEART-ATRACK PREDICTION ML   /   RESEARCH VIVA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85931-3A4C-4B57-8333-3F14BFC9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04925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Seven conventional classifiers were compared with the same five-fold setup.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FE821-FE0F-41BD-9E5A-B21F5545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Logistic Regression had the highest mean ROC-AUC: 0.908 ± 0.039.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E0424-27B6-4474-8E67-2382399E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KNN had the highest mean accuracy: 0.867 ± 0.064.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B081C-4C9B-4061-8561-28BD4428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Logistic Regression accuracy was 0.859 ± 0.045.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000AE-FD95-46FA-A91A-D33C9FD7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9525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These are internal estimates; fold SD is descriptive, not a confidence interval.</a:t>
            </a:r>
          </a:p>
        </p:txBody>
      </p:sp>
    </p:spTree>
    <p:extLst>
      <p:ext uri="{BB962C8B-B14F-4D97-AF65-F5344CB8AC3E}">
        <p14:creationId xmlns:p14="http://schemas.microsoft.com/office/powerpoint/2010/main" val="906155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FA600-3506-4D44-A4BC-F2F9531D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Ablation: metric tradeoffs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A4AE6-D1BA-40F3-A267-FB52700F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575"/>
                </a:solidFill>
                <a:latin typeface="Arial"/>
                <a:ea typeface="Arial"/>
                <a:cs typeface="Arial"/>
              </a:rPr>
              <a:t>HEART-ATRACK PREDICTION ML   /   RESEARCH VIVA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1FF1A-28B1-4FF8-947A-BE366766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47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Stage B led on ROC-AUC, average precision, and Brier score. Stage A led on accuracy and F1.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1190625" y="1762125"/>
          <a:ext xmlns:a="http://schemas.openxmlformats.org/drawingml/2006/main" cx="95250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ee6383793c45a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CD7C8-2F72-444B-91F6-DB1E6A60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Accuracy: A 0.859  |  B 0.846  |  F 0.834       Brier: A 0.118  |  B 0.112  |  F 0.126</a:t>
            </a:r>
          </a:p>
        </p:txBody>
      </p:sp>
    </p:spTree>
    <p:extLst>
      <p:ext uri="{BB962C8B-B14F-4D97-AF65-F5344CB8AC3E}">
        <p14:creationId xmlns:p14="http://schemas.microsoft.com/office/powerpoint/2010/main" val="2452191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9F279-FB25-4ECF-8BDA-26A088A1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Selected candidate and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837E0-A630-4BEA-AAFB-389BF981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575"/>
                </a:solidFill>
                <a:latin typeface="Arial"/>
                <a:ea typeface="Arial"/>
                <a:cs typeface="Arial"/>
              </a:rPr>
              <a:t>HEART-ATRACK PREDICTION ML   /   RESEARCH VIVA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DA2D2-21B2-46EC-A71B-571715F3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Stage B: mutual-information SelectKBest (k=15) plus Logistic Regression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87738-A2E6-4C2D-9395-10DEF6D0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Pooled OOF: ROC-AUC 0.916, average precision 0.922, Brier 0.112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EEDBC-3684-4AF9-9213-4DDD2081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Stage A achieved higher accuracy (0.859 vs 0.846) and F1 (0.872 vs 0.861)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765FF-69FD-42DA-A785-FC3B5FDD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289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Selection reflects a probability-oriented metric tradeoff, not universal superiority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4A5B4-EA3C-4C70-BD29-BD505575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Probabilities refer to dataset codes, not validated clinical risk</a:t>
            </a:r>
          </a:p>
        </p:txBody>
      </p:sp>
    </p:spTree>
    <p:extLst>
      <p:ext uri="{BB962C8B-B14F-4D97-AF65-F5344CB8AC3E}">
        <p14:creationId xmlns:p14="http://schemas.microsoft.com/office/powerpoint/2010/main" val="3686377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C4AD2-6F1D-405A-AB8E-D1DCB2C0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Scope of supporting analyses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50DD0-0521-4BF2-97B9-583712F6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575"/>
                </a:solidFill>
                <a:latin typeface="Arial"/>
                <a:ea typeface="Arial"/>
                <a:cs typeface="Arial"/>
              </a:rPr>
              <a:t>HEART-ATRACK PREDICTION ML   /   RESEARCH VIVA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0D680-4CA3-4F35-8C9E-62B4D75B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10429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Calibration and conformal uncertainty: soft-voting/baseline candidates, not Stage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BFBDB-8F46-44CB-AA2D-479F1E57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10429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SHAP: Phase 6 Logistic Regression baseline, not the final Stage B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0797C-E4F1-47BB-9BA2-40BC370E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429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External Hungary cohort: frozen Phase 6 baseline; severe missingness and uncertain mapping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22E0B-168F-45F5-985B-F7A62925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28975"/>
            <a:ext cx="10429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Subgroup results: descriptive only; small groups and unverified codebooks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0D485-6E47-4D79-938F-19DC3842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10429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None of these analyses establish clinical validity or fairness</a:t>
            </a:r>
          </a:p>
        </p:txBody>
      </p:sp>
    </p:spTree>
    <p:extLst>
      <p:ext uri="{BB962C8B-B14F-4D97-AF65-F5344CB8AC3E}">
        <p14:creationId xmlns:p14="http://schemas.microsoft.com/office/powerpoint/2010/main" val="11754669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E5D55-D167-475D-BE0F-F204A6A9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Publication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FB03E-32AB-4F01-B2E9-87B3EE30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575"/>
                </a:solidFill>
                <a:latin typeface="Arial"/>
                <a:ea typeface="Arial"/>
                <a:cs typeface="Arial"/>
              </a:rPr>
              <a:t>HEART-ATRACK PREDICTION ML   /   RESEARCH VIVA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35D4B-7C50-44C5-B52C-6D7499D5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Exploratory benchmark manuscript is ready for internal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D8E0A-49F1-434F-980F-9CA5649A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Submission as a heart-attack or clinical-risk paper is not supported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B9CC5-1A2A-4A8C-A288-185C30AC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Verify source, license, label codebook, and endpoint before biomedical claims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4FC94-4A8F-4154-8722-56F69D6D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289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Select a specific IEEE venue and apply its current template and rules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D6AF5-A0DA-495A-BFBC-6EC10B76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Complete author, ethics, funding, conflict, data/code, and reference checks</a:t>
            </a:r>
          </a:p>
        </p:txBody>
      </p:sp>
    </p:spTree>
    <p:extLst>
      <p:ext uri="{BB962C8B-B14F-4D97-AF65-F5344CB8AC3E}">
        <p14:creationId xmlns:p14="http://schemas.microsoft.com/office/powerpoint/2010/main" val="19380132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8BC11-F61D-4537-B59D-B855D15A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Limitations and next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27973-BC69-4DC4-987E-F041BF53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575"/>
                </a:solidFill>
                <a:latin typeface="Arial"/>
                <a:ea typeface="Arial"/>
                <a:cs typeface="Arial"/>
              </a:rPr>
              <a:t>HEART-ATRACK PREDICTION ML   /   RESEARCH VIVA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C86E2-F0D4-43F5-AAB8-11A915F1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Small sample; target provenance and class direction unresolved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E9BBE-5061-40BA-A833-5A97AB47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Earlier holdout screening limits confirmatory 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C9ECA-F174-4167-8603-D1BE2BB3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No independent external evaluation of the selected Stage B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D204C-2245-400D-8015-866CDB3F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289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Future-risk work needs an incident endpoint, prediction time, and horizon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7F611-6EDA-4D5F-B131-FF154B05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A suitable new cohort and prospective analysis plan are needed for clinical claims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FA0A6-0CEA-4485-8ADA-8BD685DA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9E3B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E3B3B"/>
                </a:solidFill>
                <a:latin typeface="Arial"/>
                <a:ea typeface="Arial"/>
                <a:cs typeface="Arial"/>
              </a:rPr>
              <a:t>Research and education only. Not a medical diagnostic tool.</a:t>
            </a:r>
          </a:p>
        </p:txBody>
      </p:sp>
    </p:spTree>
    <p:extLst>
      <p:ext uri="{BB962C8B-B14F-4D97-AF65-F5344CB8AC3E}">
        <p14:creationId xmlns:p14="http://schemas.microsoft.com/office/powerpoint/2010/main" val="5136584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8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E3145-CF39-4161-8DB7-5607F437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07884-38F6-48F4-81C8-5630C512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The defensible conclusion is bounded: results describe dataset classes in this supplied sample.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4FC23-2B2F-4935-9DAA-2B432A49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No clinical validity, heart-attack prediction, or IEEE acceptance is claimed.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12FDC-064E-4E8B-9496-211A5BFF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7C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7C83"/>
                </a:solidFill>
                <a:latin typeface="Arial"/>
                <a:ea typeface="Arial"/>
                <a:cs typeface="Arial"/>
              </a:rPr>
              <a:t>Project files: paper/ieee_paper.md  |  paper/viva_guide.md  |  paper/publication_readiness.md</a:t>
            </a:r>
          </a:p>
        </p:txBody>
      </p:sp>
    </p:spTree>
    <p:extLst>
      <p:ext uri="{BB962C8B-B14F-4D97-AF65-F5344CB8AC3E}">
        <p14:creationId xmlns:p14="http://schemas.microsoft.com/office/powerpoint/2010/main" val="280539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2026-10-05T19:07:23.2630000Z</dcterms:created>
  <dcterms:modified xsi:type="dcterms:W3CDTF">2026-10-05T19:07:23.2630000Z</dcterms:modified>
</coreProperties>
</file>